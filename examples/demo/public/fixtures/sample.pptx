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9144000" cy="5143500"/>
  <p:notesSz cx="51435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Opening slide. The speaker notes panel reads this text from the notes slide part.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Three coloured boxes exercise fills, alignment and multi-line text.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62000" y="1333500"/>
            <a:ext cx="7620000" cy="85725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4000" b="1" dirty="0">
                <a:solidFill>
                  <a:srgbClr val="FFFFFF"/>
                </a:solidFill>
              </a:rPr>
              <a:t>doc-preview PowerPoint fixture</a:t>
            </a:r>
          </a:p>
        </p:txBody>
      </p:sp>
      <p:sp>
        <p:nvSpPr>
          <p:cNvPr id="3" name="Subtitle"/>
          <p:cNvSpPr/>
          <p:nvPr/>
        </p:nvSpPr>
        <p:spPr>
          <a:xfrm>
            <a:off x="762000" y="2381250"/>
            <a:ext cx="7620000" cy="5715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2000" b="0" dirty="0">
                <a:solidFill>
                  <a:srgbClr val="D6E4FF"/>
                </a:solidFill>
              </a:rPr>
              <a:t>Parsed with pptxtojson, rendered as positioned DOM</a:t>
            </a:r>
          </a:p>
        </p:txBody>
      </p:sp>
      <p:sp>
        <p:nvSpPr>
          <p:cNvPr id="4" name="Accent"/>
          <p:cNvSpPr/>
          <p:nvPr/>
        </p:nvSpPr>
        <p:spPr>
          <a:xfrm>
            <a:off x="762000" y="3143250"/>
            <a:ext cx="1524000" cy="57150"/>
          </a:xfrm>
          <a:prstGeom prst="rect">
            <a:avLst/>
          </a:prstGeom>
          <a:solidFill>
            <a:srgbClr val="FFC000"/>
          </a:solidFill>
        </p:spPr>
        <p:txBody>
          <a:bodyPr wrap="square"/>
          <a:lstStyle/>
          <a:p>
            <a:pPr algn="l"/>
            <a:r>
              <a:rPr lang="en-US" sz="1800" b="0" dirty="0">
                <a:solidFill>
                  <a:srgbClr val="1B1D21"/>
                </a:solidFill>
              </a:rPr>
              <a:t/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eading"/>
          <p:cNvSpPr/>
          <p:nvPr/>
        </p:nvSpPr>
        <p:spPr>
          <a:xfrm>
            <a:off x="571500" y="476250"/>
            <a:ext cx="8001000" cy="5715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3000" b="1" dirty="0">
                <a:solidFill>
                  <a:srgbClr val="1B1D21"/>
                </a:solidFill>
              </a:rPr>
              <a:t>Shapes, colours and alignment</a:t>
            </a:r>
          </a:p>
        </p:txBody>
      </p:sp>
      <p:sp>
        <p:nvSpPr>
          <p:cNvPr id="3" name="BoxA"/>
          <p:cNvSpPr/>
          <p:nvPr/>
        </p:nvSpPr>
        <p:spPr>
          <a:xfrm>
            <a:off x="571500" y="1428750"/>
            <a:ext cx="2381250" cy="1428750"/>
          </a:xfrm>
          <a:prstGeom prst="rect">
            <a:avLst/>
          </a:prstGeom>
          <a:solidFill>
            <a:srgbClr val="2563EB"/>
          </a:solidFill>
        </p:spPr>
        <p:txBody>
          <a:bodyPr wrap="square"/>
          <a:lstStyle/>
          <a:p>
            <a:pPr algn="ctr"/>
            <a:r>
              <a:rPr lang="en-US" sz="1600" b="0" dirty="0">
                <a:solidFill>
                  <a:srgbClr val="FFFFFF"/>
                </a:solidFill>
              </a:rPr>
              <a:t>Filled shape</a:t>
            </a:r>
          </a:p>
          <a:p>
            <a:pPr algn="ctr"/>
            <a:r>
              <a:rPr lang="en-US" sz="1600" b="0" dirty="0">
                <a:solidFill>
                  <a:srgbClr val="FFFFFF"/>
                </a:solidFill>
              </a:rPr>
              <a:t>with wrapped text</a:t>
            </a:r>
          </a:p>
        </p:txBody>
      </p:sp>
      <p:sp>
        <p:nvSpPr>
          <p:cNvPr id="4" name="BoxB"/>
          <p:cNvSpPr/>
          <p:nvPr/>
        </p:nvSpPr>
        <p:spPr>
          <a:xfrm>
            <a:off x="3333750" y="1428750"/>
            <a:ext cx="2381250" cy="1428750"/>
          </a:xfrm>
          <a:prstGeom prst="rect">
            <a:avLst/>
          </a:prstGeom>
          <a:solidFill>
            <a:srgbClr val="16A34A"/>
          </a:solidFill>
        </p:spPr>
        <p:txBody>
          <a:bodyPr wrap="square"/>
          <a:lstStyle/>
          <a:p>
            <a:pPr algn="ctr"/>
            <a:r>
              <a:rPr lang="en-US" sz="1600" b="0" dirty="0">
                <a:solidFill>
                  <a:srgbClr val="FFFFFF"/>
                </a:solidFill>
              </a:rPr>
              <a:t>Second box</a:t>
            </a:r>
          </a:p>
        </p:txBody>
      </p:sp>
      <p:sp>
        <p:nvSpPr>
          <p:cNvPr id="5" name="BoxC"/>
          <p:cNvSpPr/>
          <p:nvPr/>
        </p:nvSpPr>
        <p:spPr>
          <a:xfrm>
            <a:off x="6096000" y="1428750"/>
            <a:ext cx="2381250" cy="1428750"/>
          </a:xfrm>
          <a:prstGeom prst="rect">
            <a:avLst/>
          </a:prstGeom>
          <a:solidFill>
            <a:srgbClr val="DC2626"/>
          </a:solidFill>
        </p:spPr>
        <p:txBody>
          <a:bodyPr wrap="square"/>
          <a:lstStyle/>
          <a:p>
            <a:pPr algn="ctr"/>
            <a:r>
              <a:rPr lang="en-US" sz="1600" b="0" dirty="0">
                <a:solidFill>
                  <a:srgbClr val="FFFFFF"/>
                </a:solidFill>
              </a:rPr>
              <a:t>Third box</a:t>
            </a:r>
          </a:p>
        </p:txBody>
      </p:sp>
      <p:sp>
        <p:nvSpPr>
          <p:cNvPr id="6" name="Footer"/>
          <p:cNvSpPr/>
          <p:nvPr/>
        </p:nvSpPr>
        <p:spPr>
          <a:xfrm>
            <a:off x="571500" y="3238500"/>
            <a:ext cx="800100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600" b="0" dirty="0">
                <a:solidFill>
                  <a:srgbClr val="1B1D21"/>
                </a:solidFill>
              </a:rPr>
              <a:t>Text alignment, font sizes and fill colours come through the parser as</a:t>
            </a:r>
          </a:p>
          <a:p>
            <a:pPr algn="l"/>
            <a:r>
              <a:rPr lang="en-US" sz="1600" b="0" dirty="0">
                <a:solidFill>
                  <a:srgbClr val="1B1D21"/>
                </a:solidFill>
              </a:rPr>
              <a:t>structured values, which the renderer maps onto CSS.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eading"/>
          <p:cNvSpPr/>
          <p:nvPr/>
        </p:nvSpPr>
        <p:spPr>
          <a:xfrm>
            <a:off x="571500" y="476250"/>
            <a:ext cx="8001000" cy="5715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3000" b="1" dirty="0">
                <a:solidFill>
                  <a:srgbClr val="1B1D21"/>
                </a:solidFill>
              </a:rPr>
              <a:t>A table</a:t>
            </a:r>
          </a:p>
        </p:txBody>
      </p:sp>
      <p:graphicFrame>
        <p:nvGraphicFramePr>
          <p:cNvPr id="3" name="Table"/>
          <p:cNvGraphicFramePr/>
          <p:nvPr/>
        </p:nvGraphicFramePr>
        <p:xfrm>
          <a:off x="571500" y="1428750"/>
          <a:ext cx="8001000" cy="2286000"/>
        </p:xfrm>
        <a:graphic>
          <a:graphicData uri="http://schemas.openxmlformats.org/drawingml/2006/table">
            <a:tbl>
              <a:tblPr firstRow="1"/>
              <a:tblGrid>
                <a:gridCol w="2667000"/>
                <a:gridCol w="2667000"/>
                <a:gridCol w="2667000"/>
              </a:tblGrid>
              <a:tr h="457200">
                <a:tc>
                  <a:txBody>
                    <a:bodyPr/>
                    <a:lstStyle/>
                    <a:p>
                      <a:r>
                        <a:rPr lang="en-US" sz="1400" b="1"/>
                        <a:t>Format</a:t>
                      </a:r>
                    </a:p>
                  </a:txBody>
                  <a:tcPr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Library</a:t>
                      </a:r>
                    </a:p>
                  </a:txBody>
                  <a:tcPr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Fidelity</a:t>
                      </a:r>
                    </a:p>
                  </a:txBody>
                  <a:tcPr>
                    <a:solidFill>
                      <a:srgbClr val="E8E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400" b="0"/>
                        <a:t>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/>
                        <a:t>pdfjs-dist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/>
                        <a:t>High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400" b="0"/>
                        <a:t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/>
                        <a:t>docx-preview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/>
                        <a:t>High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400" b="0"/>
                        <a:t>PPTX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/>
                        <a:t>pptxtojson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/>
                        <a:t>Approximate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oc-preview">
  <a:themeElements>
    <a:clrScheme name="doc-preview">
      <a:dk1>
        <a:srgbClr val="1B1D21"/>
      </a:dk1>
      <a:lt1>
        <a:srgbClr val="FFFFFF"/>
      </a:lt1>
      <a:dk2>
        <a:srgbClr val="44546A"/>
      </a:dk2>
      <a:lt2>
        <a:srgbClr val="E7E6E6"/>
      </a:lt2>
      <a:accent1>
        <a:srgbClr val="2563EB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doc-preview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doc-preview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